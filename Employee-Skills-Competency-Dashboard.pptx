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968B"/>
                </a:solidFill>
                <a:latin typeface="Segoe UI"/>
              </a:rPr>
              <a:t>SOLUTION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48840"/>
            <a:ext cx="104241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Employee Skills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Competency Management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77639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D7E2F0"/>
                </a:solidFill>
                <a:latin typeface="Segoe UI"/>
              </a:rPr>
              <a:t>Track skills, ratings, progression and full audit history — and see the trends that matter.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892040"/>
            <a:ext cx="2286000" cy="749808"/>
          </a:xfrm>
          <a:prstGeom prst="roundRect">
            <a:avLst/>
          </a:prstGeom>
          <a:solidFill>
            <a:srgbClr val="1C4070"/>
          </a:solidFill>
          <a:ln w="12700">
            <a:solidFill>
              <a:srgbClr val="2E5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Power Apps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2DE"/>
                </a:solidFill>
                <a:latin typeface="Segoe UI"/>
              </a:rPr>
              <a:t>Data entry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81528" y="4892040"/>
            <a:ext cx="2286000" cy="749808"/>
          </a:xfrm>
          <a:prstGeom prst="roundRect">
            <a:avLst/>
          </a:prstGeom>
          <a:solidFill>
            <a:srgbClr val="1C4070"/>
          </a:solidFill>
          <a:ln w="12700">
            <a:solidFill>
              <a:srgbClr val="2E5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Dataverse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2DE"/>
                </a:solidFill>
                <a:latin typeface="Segoe UI"/>
              </a:rPr>
              <a:t>System of record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96128" y="4892040"/>
            <a:ext cx="2286000" cy="749808"/>
          </a:xfrm>
          <a:prstGeom prst="roundRect">
            <a:avLst/>
          </a:prstGeom>
          <a:solidFill>
            <a:srgbClr val="1C4070"/>
          </a:solidFill>
          <a:ln w="12700">
            <a:solidFill>
              <a:srgbClr val="2E5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Power BI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2DE"/>
                </a:solidFill>
                <a:latin typeface="Segoe UI"/>
              </a:rPr>
              <a:t>Trends &amp;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97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9FB6D2"/>
                </a:solidFill>
                <a:latin typeface="Segoe UI"/>
              </a:rPr>
              <a:t>Draft v2.0 for review   ·   Prepared for the Engineering 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68B"/>
                </a:solidFill>
                <a:latin typeface="Segoe UI"/>
              </a:rPr>
              <a:t>THE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335C"/>
                </a:solidFill>
                <a:latin typeface="Segoe UI"/>
              </a:rPr>
              <a:t>What you asked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43000" cy="406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499616"/>
            <a:ext cx="3675887" cy="1773936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8C"/>
                </a:solidFill>
                <a:latin typeface="Segoe UI"/>
              </a:rPr>
              <a:t>Profiles &amp; ratings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View every employee's profile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Skills rated 0 to 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0 = lowest, 5 = highest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99616"/>
            <a:ext cx="50292" cy="177393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15967" y="1499616"/>
            <a:ext cx="3675887" cy="1773936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968B"/>
                </a:solidFill>
                <a:latin typeface="Segoe UI"/>
              </a:rPr>
              <a:t>Add, edit, update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Skill picked from a dropdown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Rating picked from a dropdown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Managers can add new skills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7" y="1499616"/>
            <a:ext cx="50292" cy="1773936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65006" y="1499616"/>
            <a:ext cx="3675887" cy="1773936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D97A0B"/>
                </a:solidFill>
                <a:latin typeface="Segoe UI"/>
              </a:rPr>
              <a:t>Categories &amp; meaning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Skills grouped into categories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Each rating level explained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A note against each rating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5006" y="1499616"/>
            <a:ext cx="50292" cy="177393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3438144"/>
            <a:ext cx="3675887" cy="1773936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32D3F"/>
                </a:solidFill>
                <a:latin typeface="Segoe UI"/>
              </a:rPr>
              <a:t>Full history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Every change kept, forever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Old records can be corrected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Complete audit trail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438144"/>
            <a:ext cx="50292" cy="1773936"/>
          </a:xfrm>
          <a:prstGeom prst="rect">
            <a:avLst/>
          </a:prstGeom>
          <a:solidFill>
            <a:srgbClr val="B3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15967" y="3438144"/>
            <a:ext cx="3675887" cy="1773936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8C"/>
                </a:solidFill>
                <a:latin typeface="Segoe UI"/>
              </a:rPr>
              <a:t>Trends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By employee and by skill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Month · quarter · half-year · year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Progression over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7" y="3438144"/>
            <a:ext cx="50292" cy="177393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65006" y="3438144"/>
            <a:ext cx="3675887" cy="1773936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968B"/>
                </a:solidFill>
                <a:latin typeface="Segoe UI"/>
              </a:rPr>
              <a:t>Access &amp; data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Managers and admins maintain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Employees view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Employee data from Excel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6" y="3438144"/>
            <a:ext cx="50292" cy="1773936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6928" y="5468112"/>
            <a:ext cx="11057839" cy="566928"/>
          </a:xfrm>
          <a:prstGeom prst="roundRect">
            <a:avLst/>
          </a:prstGeom>
          <a:solidFill>
            <a:srgbClr val="E4ECF6"/>
          </a:solidFill>
          <a:ln w="12700">
            <a:solidFill>
              <a:srgbClr val="E4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335C"/>
                </a:solidFill>
                <a:latin typeface="Segoe UI"/>
              </a:rPr>
              <a:t>Every one of these is covered. The rest of this deck is how.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37A"/>
                </a:solidFill>
                <a:latin typeface="Segoe UI"/>
              </a:rPr>
              <a:t>Employee Skills &amp; Competency Management Dashboard   ·   Power Platform Solution Overview   ·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68B"/>
                </a:solidFill>
                <a:latin typeface="Segoe UI"/>
              </a:rPr>
              <a:t>THE CONSTRAINT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335C"/>
                </a:solidFill>
                <a:latin typeface="Segoe UI"/>
              </a:rPr>
              <a:t>Built on Power Platform — and only Power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43000" cy="406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499616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37A"/>
                </a:solidFill>
                <a:latin typeface="Segoe UI"/>
              </a:rPr>
              <a:t>Power BI + Power Apps + Dataverse. No custom application, no servers, no database to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02536"/>
            <a:ext cx="3566160" cy="260604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04672" rIns="128016" bIns="9144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Tables, relationships, keys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Security roles &amp; ownership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Native auditing on every change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Automatic backup &amp; restore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02536"/>
            <a:ext cx="3566160" cy="658368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Dataverse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System of record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7" y="2002536"/>
            <a:ext cx="3566160" cy="260604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04672" rIns="128016" bIns="9144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Model-driven app for records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Canvas page for fast rating entry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Business rules for validation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Audit History on every record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7" y="2002536"/>
            <a:ext cx="3566160" cy="658368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Power Apps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Where work happens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6" y="2002536"/>
            <a:ext cx="3566160" cy="260604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04672" rIns="128016" bIns="9144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All trend and gap analysis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Employee and skill level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Row-level security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Embedded back into the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5006" y="2002536"/>
            <a:ext cx="3566160" cy="65836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Power BI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Where insight happens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91456"/>
            <a:ext cx="11057839" cy="713232"/>
          </a:xfrm>
          <a:prstGeom prst="roundRect">
            <a:avLst/>
          </a:prstGeom>
          <a:solidFill>
            <a:srgbClr val="E4ECF6"/>
          </a:solidFill>
          <a:ln w="12700">
            <a:solidFill>
              <a:srgbClr val="E4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335C"/>
                </a:solidFill>
                <a:latin typeface="Segoe UI"/>
              </a:rPr>
              <a:t>What this buys 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Identity, permissions, audit, backup and mobile all come from the platform. We configure behaviour instead of writing and maintaining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37A"/>
                </a:solidFill>
                <a:latin typeface="Segoe UI"/>
              </a:rPr>
              <a:t>Employee Skills &amp; Competency Management Dashboard   ·   Power Platform Solution Overview   ·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68B"/>
                </a:solidFill>
                <a:latin typeface="Segoe UI"/>
              </a:rP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335C"/>
                </a:solidFill>
                <a:latin typeface="Segoe UI"/>
              </a:rPr>
              <a:t>How it fits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43000" cy="406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636776"/>
            <a:ext cx="1105783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74650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5637A"/>
                </a:solidFill>
                <a:latin typeface="Segoe UI"/>
              </a:rPr>
              <a:t>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89888" y="2039112"/>
            <a:ext cx="3200400" cy="658368"/>
          </a:xfrm>
          <a:prstGeom prst="roundRect">
            <a:avLst/>
          </a:prstGeom>
          <a:solidFill>
            <a:srgbClr val="E4ECF6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335C"/>
                </a:solidFill>
                <a:latin typeface="Segoe UI"/>
              </a:rPr>
              <a:t>Admin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637A"/>
                </a:solidFill>
                <a:latin typeface="Segoe UI"/>
              </a:rPr>
              <a:t>governs the catalog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10328" y="2039112"/>
            <a:ext cx="3200400" cy="658368"/>
          </a:xfrm>
          <a:prstGeom prst="roundRect">
            <a:avLst/>
          </a:prstGeom>
          <a:solidFill>
            <a:srgbClr val="E4ECF6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335C"/>
                </a:solidFill>
                <a:latin typeface="Segoe UI"/>
              </a:rPr>
              <a:t>Manager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637A"/>
                </a:solidFill>
                <a:latin typeface="Segoe UI"/>
              </a:rPr>
              <a:t>records &amp; corrects ratings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0768" y="2039112"/>
            <a:ext cx="3200400" cy="658368"/>
          </a:xfrm>
          <a:prstGeom prst="roundRect">
            <a:avLst/>
          </a:prstGeom>
          <a:solidFill>
            <a:srgbClr val="E4ECF6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335C"/>
                </a:solidFill>
                <a:latin typeface="Segoe UI"/>
              </a:rPr>
              <a:t>Employee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637A"/>
                </a:solidFill>
                <a:latin typeface="Segoe UI"/>
              </a:rPr>
              <a:t>views own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72384"/>
            <a:ext cx="1105783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18211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5637A"/>
                </a:solidFill>
                <a:latin typeface="Segoe UI"/>
              </a:rPr>
              <a:t>EXPERIENCE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89888" y="3474720"/>
            <a:ext cx="3200400" cy="658368"/>
          </a:xfrm>
          <a:prstGeom prst="round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Model-driven app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directory · profile · catalog · imports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10328" y="3474720"/>
            <a:ext cx="3200400" cy="658368"/>
          </a:xfrm>
          <a:prstGeom prst="round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Rating entry page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the single write path for ratings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0768" y="3474720"/>
            <a:ext cx="3200400" cy="658368"/>
          </a:xfrm>
          <a:prstGeom prst="round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Power BI reports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trends · gaps · my skills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517136"/>
            <a:ext cx="1105783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462686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5637A"/>
                </a:solidFill>
                <a:latin typeface="Segoe UI"/>
              </a:rPr>
              <a:t>DATA &amp; IDENTITY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89888" y="4919472"/>
            <a:ext cx="6720840" cy="749808"/>
          </a:xfrm>
          <a:prstGeom prst="roundRect">
            <a:avLst/>
          </a:prstGeom>
          <a:solidFill>
            <a:srgbClr val="15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Dataverse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D2E8"/>
                </a:solidFill>
                <a:latin typeface="Segoe UI"/>
              </a:rPr>
              <a:t>Employees · Skills · Categories · Rating levels · Assessments ·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85048" y="4919472"/>
            <a:ext cx="3200400" cy="749808"/>
          </a:xfrm>
          <a:prstGeom prst="round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Microsoft Entra ID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sign-in and group membership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327648" y="2770632"/>
            <a:ext cx="457200" cy="329184"/>
          </a:xfrm>
          <a:prstGeom prst="downArrow">
            <a:avLst/>
          </a:prstGeom>
          <a:solidFill>
            <a:srgbClr val="C7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own Arrow 19"/>
          <p:cNvSpPr/>
          <p:nvPr/>
        </p:nvSpPr>
        <p:spPr>
          <a:xfrm>
            <a:off x="6327648" y="4206240"/>
            <a:ext cx="457200" cy="329184"/>
          </a:xfrm>
          <a:prstGeom prst="downArrow">
            <a:avLst/>
          </a:prstGeom>
          <a:solidFill>
            <a:srgbClr val="C7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98017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5637A"/>
                </a:solidFill>
                <a:latin typeface="Segoe UI"/>
              </a:rPr>
              <a:t>Power BI refreshes from Dataverse and is embedded back into the app, so managers analyse and act in one place.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37A"/>
                </a:solidFill>
                <a:latin typeface="Segoe UI"/>
              </a:rPr>
              <a:t>Employee Skills &amp; Competency Management Dashboard   ·   Power Platform Solution Overview   ·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68B"/>
                </a:solidFill>
                <a:latin typeface="Segoe UI"/>
              </a:rPr>
              <a:t>ACCESS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335C"/>
                </a:solidFill>
                <a:latin typeface="Segoe UI"/>
              </a:rPr>
              <a:t>Who can do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43000" cy="406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99616"/>
          <a:ext cx="7223758" cy="3489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13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77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Manager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Employee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77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View own profile, skills and trends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77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View colleagues' current ratings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77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View rating history and notes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Own team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Own only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77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Add a skill to an employee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Own team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77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Record or update a rating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Own team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77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Correct or void a past record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Own team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77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Add a new skill to the catalog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77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Rename, deprecate or merge skills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77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Edit the 0–5 rating descriptions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77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Import the employee Excel file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77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Delete anything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19288" y="1499616"/>
            <a:ext cx="3566160" cy="146304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968B"/>
                </a:solidFill>
                <a:latin typeface="Segoe UI"/>
              </a:rPr>
              <a:t>Scope is not app logic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“Own team” means the manager's whole reporting line, direct and indirect — enforced by Dataverse hierarchy security, so it holds through Excel and the API too.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19288" y="1499616"/>
            <a:ext cx="50292" cy="14630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19288" y="3090672"/>
            <a:ext cx="3566160" cy="137160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32D3F"/>
                </a:solidFill>
                <a:latin typeface="Segoe UI"/>
              </a:rPr>
              <a:t>Nothing can be deleted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No security role holds the Delete privilege on ratings — not even an administrator. Mistakes are voided with a reason, never removed.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19288" y="3090672"/>
            <a:ext cx="50292" cy="1371600"/>
          </a:xfrm>
          <a:prstGeom prst="rect">
            <a:avLst/>
          </a:prstGeom>
          <a:solidFill>
            <a:srgbClr val="B3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19288" y="4590288"/>
            <a:ext cx="3566160" cy="1316736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8C"/>
                </a:solidFill>
                <a:latin typeface="Segoe UI"/>
              </a:rPr>
              <a:t>Sign-in is your existing account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Microsoft Entra ID, with roles assigned to security groups so joiners and leavers are handled by existing processes.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9288" y="4590288"/>
            <a:ext cx="50292" cy="131673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37A"/>
                </a:solidFill>
                <a:latin typeface="Segoe UI"/>
              </a:rPr>
              <a:t>Employee Skills &amp; Competency Management Dashboard   ·   Power Platform Solution Overview   ·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68B"/>
                </a:solidFill>
                <a:latin typeface="Segoe UI"/>
              </a:rPr>
              <a:t>DATAVERSE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335C"/>
                </a:solidFill>
                <a:latin typeface="Segoe UI"/>
              </a:rPr>
              <a:t>What we 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43000" cy="406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499616"/>
            <a:ext cx="2697480" cy="1335024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4E8C"/>
                </a:solidFill>
                <a:latin typeface="Segoe UI"/>
              </a:rPr>
              <a:t>Employee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Code · Name · Email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Department · Designation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Manager · Joining 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99616"/>
            <a:ext cx="50292" cy="1335024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83280" y="1499616"/>
            <a:ext cx="2697480" cy="1335024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968B"/>
                </a:solidFill>
                <a:latin typeface="Segoe UI"/>
              </a:rPr>
              <a:t>Skill Category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Name · Description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Display order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e.g. Test Automation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499616"/>
            <a:ext cx="50292" cy="1335024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99632" y="1499616"/>
            <a:ext cx="2697480" cy="1335024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968B"/>
                </a:solidFill>
                <a:latin typeface="Segoe UI"/>
              </a:rPr>
              <a:t>Skill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Name · Category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Aliases · Status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e.g. Playwright, Java, 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499616"/>
            <a:ext cx="50292" cy="1335024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15984" y="1499616"/>
            <a:ext cx="2697480" cy="1335024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7A0B"/>
                </a:solidFill>
                <a:latin typeface="Segoe UI"/>
              </a:rPr>
              <a:t>Rating Level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Value 0–5 · Label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Description of the level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Editable as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15984" y="1499616"/>
            <a:ext cx="50292" cy="133502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2980944"/>
            <a:ext cx="2697480" cy="1335024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4E8C"/>
                </a:solidFill>
                <a:latin typeface="Segoe UI"/>
              </a:rPr>
              <a:t>Employee Skill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Employee × Skill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Current rating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First acquired · Last assessed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980944"/>
            <a:ext cx="50292" cy="1335024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83280" y="2980944"/>
            <a:ext cx="2697480" cy="1335024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32D3F"/>
                </a:solidFill>
                <a:latin typeface="Segoe UI"/>
              </a:rPr>
              <a:t>Skill Assessment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Rating · Effective date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Note · Reason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Supersedes · Superseded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980944"/>
            <a:ext cx="50292" cy="1335024"/>
          </a:xfrm>
          <a:prstGeom prst="rect">
            <a:avLst/>
          </a:prstGeom>
          <a:solidFill>
            <a:srgbClr val="B3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99632" y="2980944"/>
            <a:ext cx="2697480" cy="1335024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5637A"/>
                </a:solidFill>
                <a:latin typeface="Segoe UI"/>
              </a:rPr>
              <a:t>Import Batch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File · Counts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Staged vs promoted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980944"/>
            <a:ext cx="50292" cy="1335024"/>
          </a:xfrm>
          <a:prstGeom prst="rect">
            <a:avLst/>
          </a:prstGeom>
          <a:solidFill>
            <a:srgbClr val="556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15984" y="2980944"/>
            <a:ext cx="2697480" cy="1335024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5637A"/>
                </a:solidFill>
                <a:latin typeface="Segoe UI"/>
              </a:rPr>
              <a:t>Import Staging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One row per Excel row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Outcome · Validation message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980944"/>
            <a:ext cx="50292" cy="1335024"/>
          </a:xfrm>
          <a:prstGeom prst="rect">
            <a:avLst/>
          </a:prstGeom>
          <a:solidFill>
            <a:srgbClr val="556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66928" y="4562856"/>
            <a:ext cx="11057839" cy="1170432"/>
          </a:xfrm>
          <a:prstGeom prst="roundRect">
            <a:avLst/>
          </a:prstGeom>
          <a:solidFill>
            <a:srgbClr val="E4ECF6"/>
          </a:solidFill>
          <a:ln w="12700">
            <a:solidFill>
              <a:srgbClr val="E4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5335C"/>
                </a:solidFill>
                <a:latin typeface="Segoe UI"/>
              </a:rPr>
              <a:t>The two tables that carry the design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Employee Skill  holds the current state — one row per person per skill, so the directory and profile read fast.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Skill Assessment  holds the timeline — one row per rating ever recorded. This is the progression, and it is append-only.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5637A"/>
                </a:solidFill>
                <a:latin typeface="Segoe UI"/>
              </a:rPr>
              <a:t>Ratings are a lookup to the six Rating Level rows, so 0–5 cannot be broken by a form, an import, or the API.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37A"/>
                </a:solidFill>
                <a:latin typeface="Segoe UI"/>
              </a:rPr>
              <a:t>Employee Skills &amp; Competency Management Dashboard   ·   Power Platform Solution Overview   ·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68B"/>
                </a:solidFill>
                <a:latin typeface="Segoe UI"/>
              </a:rPr>
              <a:t>RATINGS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335C"/>
                </a:solidFill>
                <a:latin typeface="Segoe UI"/>
              </a:rPr>
              <a:t>The 0 to 5 scale, with meaning attached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43000" cy="406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99616"/>
          <a:ext cx="768096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Level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 practical exposure; has not worked with the skill.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Awareness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Understands the core concepts and vocabulary; cannot yet deliver unaided.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Novice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Completes simple, well-defined tasks with guidance and review.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Practitioner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Works independently on routine tasks and resolves common problems.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Advanced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Handles complex or ambiguous work, reviews others, sets local standards.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Expert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Recognised authority; designs standards, mentors across teams.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76488" y="1499616"/>
            <a:ext cx="3108960" cy="146304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97A0B"/>
                </a:solidFill>
                <a:latin typeface="Segoe UI"/>
              </a:rPr>
              <a:t>Descriptions are data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An admin edits the wording in the app — no deployment, no developer. The new text appears instantly in every dropdown.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76488" y="1499616"/>
            <a:ext cx="50292" cy="146304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6488" y="3090672"/>
            <a:ext cx="3108960" cy="146304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968B"/>
                </a:solidFill>
                <a:latin typeface="Segoe UI"/>
              </a:rPr>
              <a:t>Two kinds of description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The level description explains what a 3 means. A note on each rating explains why this person got a 3 — evidence, context, justification.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76488" y="3090672"/>
            <a:ext cx="50292" cy="14630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76488" y="4681728"/>
            <a:ext cx="3108960" cy="1225296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8C"/>
                </a:solidFill>
                <a:latin typeface="Segoe UI"/>
              </a:rPr>
              <a:t>Per-category wording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A category can override the wording, so “Process &amp; Methodology” reads differently from “Programming Languages”.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76488" y="4681728"/>
            <a:ext cx="50292" cy="122529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6928" y="4517136"/>
            <a:ext cx="7680960" cy="1389888"/>
          </a:xfrm>
          <a:prstGeom prst="roundRect">
            <a:avLst/>
          </a:prstGeom>
          <a:solidFill>
            <a:srgbClr val="E4ECF6"/>
          </a:solidFill>
          <a:ln w="12700">
            <a:solidFill>
              <a:srgbClr val="E4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5335C"/>
                </a:solidFill>
                <a:latin typeface="Segoe UI"/>
              </a:rPr>
              <a:t>Why a table and not a dropdown of numbers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The rating on every assessment points at one of these six rows. That is what makes 0–5 unbreakable — a form, a bulk import or a direct API call all have to reference a real level, so an out-of-range or half-point rating simply cannot be stored.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5637A"/>
                </a:solidFill>
                <a:latin typeface="Segoe UI"/>
              </a:rPr>
              <a:t>It also means the wording above is version-controlled data, not code — and every rating ever recorded stays tied to the definition in force at the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37A"/>
                </a:solidFill>
                <a:latin typeface="Segoe UI"/>
              </a:rPr>
              <a:t>Employee Skills &amp; Competency Management Dashboard   ·   Power Platform Solution Overview   ·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68B"/>
                </a:solidFill>
                <a:latin typeface="Segoe UI"/>
              </a:rPr>
              <a:t>AUDIT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335C"/>
                </a:solidFill>
                <a:latin typeface="Segoe UI"/>
              </a:rPr>
              <a:t>History is added to, never overwritten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43000" cy="406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499616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637A"/>
                </a:solidFill>
                <a:latin typeface="Segoe UI"/>
              </a:rPr>
              <a:t>A manager corrects a March rating in September. Nothing is lost, and both the corrected timeline and the original remain available.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975104"/>
          <a:ext cx="1105783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3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0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3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849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Rating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Effective date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Recorded on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Supersedes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Superseded on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Counts in trends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15 Mar 2026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15 Mar 2026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21 Sep 2026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No — replaced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20 Sep 2026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20 Sep 2026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15 Mar 2026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21 Sep 2026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#1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Yes — the correction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3749040"/>
            <a:ext cx="2697480" cy="1170432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0968B"/>
                </a:solidFill>
                <a:latin typeface="Segoe UI"/>
              </a:rPr>
              <a:t>Trends read the corrected timeline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Rows 2 and 3 only.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March through August now reads 2, not 3.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49040"/>
            <a:ext cx="50292" cy="1170432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83280" y="3749040"/>
            <a:ext cx="2697480" cy="1170432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4E8C"/>
                </a:solidFill>
                <a:latin typeface="Segoe UI"/>
              </a:rPr>
              <a:t>History reads everything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All three rows.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Shown as “3 → 2”, with who, when and why.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3749040"/>
            <a:ext cx="50292" cy="117043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99632" y="3749040"/>
            <a:ext cx="2697480" cy="1170432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97A0B"/>
                </a:solidFill>
                <a:latin typeface="Segoe UI"/>
              </a:rPr>
              <a:t>A reason is mandatory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Corrections and voids cannot be saved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without an explanation.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3749040"/>
            <a:ext cx="50292" cy="117043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15984" y="3749040"/>
            <a:ext cx="2697480" cy="1170432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32D3F"/>
                </a:solidFill>
                <a:latin typeface="Segoe UI"/>
              </a:rPr>
              <a:t>Two clocks, deliberately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Effective date = when it was true.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41B2D"/>
                </a:solidFill>
                <a:latin typeface="Segoe UI"/>
              </a:rPr>
              <a:t>Recorded on = when it was typed.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15984" y="3749040"/>
            <a:ext cx="50292" cy="1170432"/>
          </a:xfrm>
          <a:prstGeom prst="rect">
            <a:avLst/>
          </a:prstGeom>
          <a:solidFill>
            <a:srgbClr val="B3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66928" y="5084064"/>
            <a:ext cx="11057839" cy="566928"/>
          </a:xfrm>
          <a:prstGeom prst="roundRect">
            <a:avLst/>
          </a:prstGeom>
          <a:solidFill>
            <a:srgbClr val="E4ECF6"/>
          </a:solidFill>
          <a:ln w="12700">
            <a:solidFill>
              <a:srgbClr val="E4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On top of this, Dataverse's own auditing records every create, update and delete across every table — visible on each record's Audit History tab, and not editable by anyone.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37A"/>
                </a:solidFill>
                <a:latin typeface="Segoe UI"/>
              </a:rPr>
              <a:t>Employee Skills &amp; Competency Management Dashboard   ·   Power Platform Solution Overview   ·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68B"/>
                </a:solidFill>
                <a:latin typeface="Segoe UI"/>
              </a:rPr>
              <a:t>POWER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335C"/>
                </a:solidFill>
                <a:latin typeface="Segoe UI"/>
              </a:rPr>
              <a:t>Trends at both levels, over any period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43000" cy="406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499616"/>
            <a:ext cx="5532120" cy="1874519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E8C"/>
                </a:solidFill>
                <a:latin typeface="Segoe UI"/>
              </a:rPr>
              <a:t>By employee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5637A"/>
                </a:solidFill>
                <a:latin typeface="Segoe UI"/>
              </a:rPr>
              <a:t>How one person's competency is moving.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•  Average rating across all their skills over time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•  A line per skill, drawn as steps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•  Average by category, versus the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1499616"/>
            <a:ext cx="5532120" cy="1874519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D97A0B"/>
                </a:solidFill>
                <a:latin typeface="Segoe UI"/>
              </a:rPr>
              <a:t>By skill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5637A"/>
                </a:solidFill>
                <a:latin typeface="Segoe UI"/>
              </a:rPr>
              <a:t>How a capability is spreading across the org.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•  Average rating for one skill across a population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•  How many people hold it, and at what level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•  Filter to my team, a department, or the whole 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566159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5335C"/>
                </a:solidFill>
                <a:latin typeface="Segoe UI"/>
              </a:rPr>
              <a:t>Every chart switches period with one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895344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5335C"/>
                </a:solidFill>
                <a:latin typeface="Segoe UI"/>
              </a:rPr>
              <a:t>Monthly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637A"/>
                </a:solidFill>
                <a:latin typeface="Segoe UI"/>
              </a:rPr>
              <a:t>fine-grained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895344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5335C"/>
                </a:solidFill>
                <a:latin typeface="Segoe UI"/>
              </a:rPr>
              <a:t>Quarterly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637A"/>
                </a:solidFill>
                <a:latin typeface="Segoe UI"/>
              </a:rPr>
              <a:t>review cadence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895344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5335C"/>
                </a:solidFill>
                <a:latin typeface="Segoe UI"/>
              </a:rPr>
              <a:t>Half-yearly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637A"/>
                </a:solidFill>
                <a:latin typeface="Segoe UI"/>
              </a:rPr>
              <a:t>appraisal 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15984" y="3895344"/>
            <a:ext cx="2697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5335C"/>
                </a:solidFill>
                <a:latin typeface="Segoe UI"/>
              </a:rPr>
              <a:t>Yearly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637A"/>
                </a:solidFill>
                <a:latin typeface="Segoe UI"/>
              </a:rPr>
              <a:t>long-run direction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54880"/>
            <a:ext cx="11057839" cy="914400"/>
          </a:xfrm>
          <a:prstGeom prst="roundRect">
            <a:avLst/>
          </a:prstGeom>
          <a:solidFill>
            <a:srgbClr val="E4ECF6"/>
          </a:solidFill>
          <a:ln w="12700">
            <a:solidFill>
              <a:srgbClr val="E4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5335C"/>
                </a:solidFill>
                <a:latin typeface="Segoe UI"/>
              </a:rPr>
              <a:t>Also on the report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Rating distribution over time  ·  Skill coverage matrix to expose single points of failure  ·  Skill gaps where too few people are rated 3+  ·  Stale ratings not reviewed in 6 months  ·  Change versus the previous period on every visual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37A"/>
                </a:solidFill>
                <a:latin typeface="Segoe UI"/>
              </a:rPr>
              <a:t>Employee Skills &amp; Competency Management Dashboard   ·   Power Platform Solution Overview   ·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68B"/>
                </a:solidFill>
                <a:latin typeface="Segoe UI"/>
              </a:rPr>
              <a:t>THE CARRY-FORWARD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335C"/>
                </a:solidFill>
                <a:latin typeface="Segoe UI"/>
              </a:rPr>
              <a:t>Why the trend line is trustworthy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43000" cy="406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499616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637A"/>
                </a:solidFill>
                <a:latin typeface="Segoe UI"/>
              </a:rPr>
              <a:t>Nobody is reassessed every month. A rating therefore holds its value until the next assessment — a stable skill must not look like missing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56816"/>
            <a:ext cx="786384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4215384"/>
            <a:ext cx="6949440" cy="15240"/>
          </a:xfrm>
          <a:prstGeom prst="rect">
            <a:avLst/>
          </a:prstGeom>
          <a:solidFill>
            <a:srgbClr val="C7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2728" y="4306824"/>
            <a:ext cx="9927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637A"/>
                </a:solidFill>
                <a:latin typeface="Segoe UI"/>
              </a:rPr>
              <a:t>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5505" y="4306824"/>
            <a:ext cx="9927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637A"/>
                </a:solidFill>
                <a:latin typeface="Segoe UI"/>
              </a:rPr>
              <a:t>Apr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282" y="4306824"/>
            <a:ext cx="9927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637A"/>
                </a:solidFill>
                <a:latin typeface="Segoe UI"/>
              </a:rPr>
              <a:t>May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1059" y="4306824"/>
            <a:ext cx="9927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637A"/>
                </a:solidFill>
                <a:latin typeface="Segoe UI"/>
              </a:rPr>
              <a:t>Jun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3836" y="4306824"/>
            <a:ext cx="9927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637A"/>
                </a:solidFill>
                <a:latin typeface="Segoe UI"/>
              </a:rPr>
              <a:t>Jul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6613" y="4306824"/>
            <a:ext cx="9927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637A"/>
                </a:solidFill>
                <a:latin typeface="Segoe UI"/>
              </a:rPr>
              <a:t>Aug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9390" y="4306824"/>
            <a:ext cx="9927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637A"/>
                </a:solidFill>
                <a:latin typeface="Segoe UI"/>
              </a:rPr>
              <a:t>Sep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3118104"/>
            <a:ext cx="5846934" cy="4445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64254" y="2569464"/>
            <a:ext cx="44450" cy="5486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64254" y="2569464"/>
            <a:ext cx="809897" cy="4445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344168" y="3049524"/>
            <a:ext cx="164592" cy="164592"/>
          </a:xfrm>
          <a:prstGeom prst="ellipse">
            <a:avLst/>
          </a:prstGeom>
          <a:solidFill>
            <a:srgbClr val="15335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2715768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335C"/>
                </a:solidFill>
                <a:latin typeface="Segoe UI"/>
              </a:rPr>
              <a:t>rated 3</a:t>
            </a:r>
          </a:p>
        </p:txBody>
      </p:sp>
      <p:sp>
        <p:nvSpPr>
          <p:cNvPr id="20" name="Oval 19"/>
          <p:cNvSpPr/>
          <p:nvPr/>
        </p:nvSpPr>
        <p:spPr>
          <a:xfrm>
            <a:off x="7191102" y="2500884"/>
            <a:ext cx="164592" cy="164592"/>
          </a:xfrm>
          <a:prstGeom prst="ellipse">
            <a:avLst/>
          </a:prstGeom>
          <a:solidFill>
            <a:srgbClr val="15335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2774" y="2167128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335C"/>
                </a:solidFill>
                <a:latin typeface="Segoe UI"/>
              </a:rPr>
              <a:t>rated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301752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A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246888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A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5994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37A"/>
                </a:solidFill>
                <a:latin typeface="Segoe UI"/>
              </a:rPr>
              <a:t>April to August carry the March rating of 3 — the skill did not disappear, it was simply stable.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59368" y="1956816"/>
            <a:ext cx="2926080" cy="1207008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8C"/>
                </a:solidFill>
                <a:latin typeface="Segoe UI"/>
              </a:rPr>
              <a:t>Reads from the effective date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A backdated entry lands in the period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it actually belongs to, not the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month it was typed in.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59368" y="1956816"/>
            <a:ext cx="50292" cy="1207008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659368" y="3273552"/>
            <a:ext cx="2926080" cy="1207008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97A0B"/>
                </a:solidFill>
                <a:latin typeface="Segoe UI"/>
              </a:rPr>
              <a:t>Blank before acquisition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Months before the skill was learnt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are empty, not zero — a 0 means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“assessed as none”.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59368" y="3273552"/>
            <a:ext cx="50292" cy="12070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659368" y="4590288"/>
            <a:ext cx="2926080" cy="100584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32D3F"/>
                </a:solidFill>
                <a:latin typeface="Segoe UI"/>
              </a:rPr>
              <a:t>Corrections reshape history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Fix a March rating today and the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whole chart updates.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59368" y="4590288"/>
            <a:ext cx="50292" cy="1005840"/>
          </a:xfrm>
          <a:prstGeom prst="rect">
            <a:avLst/>
          </a:prstGeom>
          <a:solidFill>
            <a:srgbClr val="B3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37A"/>
                </a:solidFill>
                <a:latin typeface="Segoe UI"/>
              </a:rPr>
              <a:t>Employee Skills &amp; Competency Management Dashboard   ·   Power Platform Solution Overview   ·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68B"/>
                </a:solidFill>
                <a:latin typeface="Segoe UI"/>
              </a:rPr>
              <a:t>EXCEL IMPORT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335C"/>
                </a:solidFill>
                <a:latin typeface="Segoe UI"/>
              </a:rPr>
              <a:t>Getting employee data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43000" cy="406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499616"/>
            <a:ext cx="2103120" cy="141732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8C"/>
                </a:solidFill>
                <a:latin typeface="Segoe UI"/>
              </a:rPr>
              <a:t>1  Download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B2D"/>
                </a:solidFill>
                <a:latin typeface="Segoe UI"/>
              </a:rPr>
              <a:t>The published template, with the columns already defined.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97480" y="2048256"/>
            <a:ext cx="100584" cy="310896"/>
          </a:xfrm>
          <a:prstGeom prst="rightArrow">
            <a:avLst/>
          </a:prstGeom>
          <a:solidFill>
            <a:srgbClr val="C7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16352" y="1499616"/>
            <a:ext cx="2103120" cy="141732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8C"/>
                </a:solidFill>
                <a:latin typeface="Segoe UI"/>
              </a:rPr>
              <a:t>2  Upload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B2D"/>
                </a:solidFill>
                <a:latin typeface="Segoe UI"/>
              </a:rPr>
              <a:t>Rows land in a staging area. Nothing touches live data yet.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46904" y="2048256"/>
            <a:ext cx="100584" cy="310896"/>
          </a:xfrm>
          <a:prstGeom prst="rightArrow">
            <a:avLst/>
          </a:prstGeom>
          <a:solidFill>
            <a:srgbClr val="C7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65776" y="1499616"/>
            <a:ext cx="2103120" cy="141732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8C"/>
                </a:solidFill>
                <a:latin typeface="Segoe UI"/>
              </a:rPr>
              <a:t>3  Validate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B2D"/>
                </a:solidFill>
                <a:latin typeface="Segoe UI"/>
              </a:rPr>
              <a:t>Every row checked: duplicates, emails, dates, unknown managers.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96328" y="2048256"/>
            <a:ext cx="100584" cy="310896"/>
          </a:xfrm>
          <a:prstGeom prst="rightArrow">
            <a:avLst/>
          </a:prstGeom>
          <a:solidFill>
            <a:srgbClr val="C7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0" y="1499616"/>
            <a:ext cx="2103120" cy="141732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8C"/>
                </a:solidFill>
                <a:latin typeface="Segoe UI"/>
              </a:rPr>
              <a:t>4  Review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B2D"/>
                </a:solidFill>
                <a:latin typeface="Segoe UI"/>
              </a:rPr>
              <a:t>See what will be created, updated, left alone — and what failed.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45752" y="2048256"/>
            <a:ext cx="100584" cy="310896"/>
          </a:xfrm>
          <a:prstGeom prst="rightArrow">
            <a:avLst/>
          </a:prstGeom>
          <a:solidFill>
            <a:srgbClr val="C7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564624" y="1499616"/>
            <a:ext cx="2103120" cy="141732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8C"/>
                </a:solidFill>
                <a:latin typeface="Segoe UI"/>
              </a:rPr>
              <a:t>5  Promote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1B2D"/>
                </a:solidFill>
                <a:latin typeface="Segoe UI"/>
              </a:rPr>
              <a:t>One deliberate action applies the good rows. Failures download as a 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91256"/>
            <a:ext cx="5440680" cy="96012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968B"/>
                </a:solidFill>
                <a:latin typeface="Segoe UI"/>
              </a:rPr>
              <a:t>Matched on employee code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Configured as a unique key, so re-importing updates rather than duplicates.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191256"/>
            <a:ext cx="50292" cy="96012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0488" y="3191256"/>
            <a:ext cx="5440680" cy="96012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968B"/>
                </a:solidFill>
                <a:latin typeface="Segoe UI"/>
              </a:rPr>
              <a:t>Bad rows fail alone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Three malformed emails do not stop the other ninety-seven rows.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191256"/>
            <a:ext cx="50292" cy="96012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66928" y="4270248"/>
            <a:ext cx="5440680" cy="96012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968B"/>
                </a:solidFill>
                <a:latin typeface="Segoe UI"/>
              </a:rPr>
              <a:t>Nobody is ever deleted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People missing from the file stay; marking them inactive is a separate decision.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270248"/>
            <a:ext cx="50292" cy="96012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90488" y="4270248"/>
            <a:ext cx="5440680" cy="96012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968B"/>
                </a:solidFill>
                <a:latin typeface="Segoe UI"/>
              </a:rPr>
              <a:t>Skills are never touched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An import only ever writes employee master data. Rating history is untouchable from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4270248"/>
            <a:ext cx="50292" cy="96012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6928" y="5413248"/>
            <a:ext cx="11057839" cy="502920"/>
          </a:xfrm>
          <a:prstGeom prst="roundRect">
            <a:avLst/>
          </a:prstGeom>
          <a:solidFill>
            <a:srgbClr val="E4ECF6"/>
          </a:solidFill>
          <a:ln w="12700">
            <a:solidFill>
              <a:srgbClr val="E4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The reporting hierarchy is resolved in a second pass, so a manager listed halfway down the file still links correctly.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37A"/>
                </a:solidFill>
                <a:latin typeface="Segoe UI"/>
              </a:rPr>
              <a:t>Employee Skills &amp; Competency Management Dashboard   ·   Power Platform Solution Overview   ·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68B"/>
                </a:solidFill>
                <a:latin typeface="Segoe UI"/>
              </a:rPr>
              <a:t>OPEN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335C"/>
                </a:solidFill>
                <a:latin typeface="Segoe UI"/>
              </a:rPr>
              <a:t>Three decisions we need from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43000" cy="406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499616"/>
            <a:ext cx="11057839" cy="1316736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499616"/>
            <a:ext cx="50292" cy="131673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1737360"/>
            <a:ext cx="420624" cy="420624"/>
          </a:xfrm>
          <a:prstGeom prst="ellipse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45920"/>
            <a:ext cx="7589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5335C"/>
                </a:solidFill>
                <a:latin typeface="Segoe UI"/>
              </a:rPr>
              <a:t>May we use one Power Automate flow?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5637A"/>
                </a:solidFill>
                <a:latin typeface="Segoe UI"/>
              </a:rPr>
              <a:t>You named Power BI, Power Apps and Dataverse. Power Automate is part of the platform but wasn't listed.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A single flow on the ratings table would guarantee the current rating stays correct no matter how data is entered. Without it, correctness depends on everyone using the app's rating screen.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16568" y="1975104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A0B"/>
                </a:solidFill>
                <a:latin typeface="Segoe UI"/>
              </a:rPr>
              <a:t>Recommended: yes, one 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44368"/>
            <a:ext cx="11057839" cy="1316736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944368"/>
            <a:ext cx="50292" cy="131673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68096" y="3182112"/>
            <a:ext cx="420624" cy="420624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90672"/>
            <a:ext cx="7589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5335C"/>
                </a:solidFill>
                <a:latin typeface="Segoe UI"/>
              </a:rPr>
              <a:t>How fresh must the trends be?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5637A"/>
                </a:solidFill>
                <a:latin typeface="Segoe UI"/>
              </a:rPr>
              <a:t>Data entry is instant. Power BI shows it at the next refresh.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Power BI Pro gives 8 refreshes a day. Premium per user gives 48 — every 30 minutes. A Fabric capacity makes it near-live and also makes report viewing free for employees.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6568" y="3419856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4E8C"/>
                </a:solidFill>
                <a:latin typeface="Segoe UI"/>
              </a:rPr>
              <a:t>Assumed: within the hour.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89120"/>
            <a:ext cx="11057839" cy="1316736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4389120"/>
            <a:ext cx="50292" cy="1316736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68096" y="4626864"/>
            <a:ext cx="420624" cy="420624"/>
          </a:xfrm>
          <a:prstGeom prst="ellipse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35424"/>
            <a:ext cx="7589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5335C"/>
                </a:solidFill>
                <a:latin typeface="Segoe UI"/>
              </a:rPr>
              <a:t>Should employees see their own rating notes?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5637A"/>
                </a:solidFill>
                <a:latin typeface="Segoe UI"/>
              </a:rPr>
              <a:t>The platform can hide a column from a role, but not row by row.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B2D"/>
                </a:solidFill>
                <a:latin typeface="Segoe UI"/>
              </a:rPr>
              <a:t>So “see my note but not my colleague's” needs a design change. The simple answer is that employees see ratings, levels and dates but not the free-text justification.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48646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968B"/>
                </a:solidFill>
                <a:latin typeface="Segoe UI"/>
              </a:rPr>
              <a:t>Assumed: no, for v1.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37A"/>
                </a:solidFill>
                <a:latin typeface="Segoe UI"/>
              </a:rPr>
              <a:t>Employee Skills &amp; Competency Management Dashboard   ·   Power Platform Solution Overview   ·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68B"/>
                </a:solidFill>
                <a:latin typeface="Segoe UI"/>
              </a:rPr>
              <a:t>LICENSING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335C"/>
                </a:solidFill>
                <a:latin typeface="Segoe UI"/>
              </a:rPr>
              <a:t>What it costs to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43000" cy="406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99616"/>
          <a:ext cx="11057837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20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2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Audience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Roughly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they need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Licence</a:t>
                      </a:r>
                    </a:p>
                  </a:txBody>
                  <a:tcPr marL="82296" marR="82296" marT="27432" marB="27432" anchor="ctr">
                    <a:solidFill>
                      <a:srgbClr val="1533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2–3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Full app, imports, all reports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Power Apps Premium + Power BI Pro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Manager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~50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Record and correct ratings, team reports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Power Apps Premium + Power BI Pro</a:t>
                      </a:r>
                    </a:p>
                  </a:txBody>
                  <a:tcPr marL="82296" marR="82296" marT="27432" marB="27432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Employee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~2,000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View own profile and the directory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B2D"/>
                          </a:solidFill>
                          <a:latin typeface="Segoe UI"/>
                        </a:rPr>
                        <a:t>Power BI only — see below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374135"/>
            <a:ext cx="11057839" cy="1234440"/>
          </a:xfrm>
          <a:prstGeom prst="roundRect">
            <a:avLst/>
          </a:prstGeom>
          <a:solidFill>
            <a:srgbClr val="E4ECF6"/>
          </a:solidFill>
          <a:ln w="12700">
            <a:solidFill>
              <a:srgbClr val="E4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5335C"/>
                </a:solidFill>
                <a:latin typeface="Segoe UI"/>
              </a:rPr>
              <a:t>The one recommendation that moves the number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41B2D"/>
                </a:solidFill>
                <a:latin typeface="Segoe UI"/>
              </a:rPr>
              <a:t>Licensing 2,000 people for Power Apps just to read their own profile is the single largest cost in this solution, and it is out of proportion to read-only use.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335C"/>
                </a:solidFill>
                <a:latin typeface="Segoe UI"/>
              </a:rPr>
              <a:t>Serve employees through Power BI instead. On a Fabric F64 capacity, report viewers are free — so the employee experience costs nothing per head, and only managers and admins need Power Apps.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745736"/>
            <a:ext cx="3566160" cy="96012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968B"/>
                </a:solidFill>
                <a:latin typeface="Segoe UI"/>
              </a:rPr>
              <a:t>Dataverse storage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41B2D"/>
                </a:solidFill>
                <a:latin typeface="Segoe UI"/>
              </a:rPr>
              <a:t>Modest at these volumes — roughly half a million rating rows.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745736"/>
            <a:ext cx="50292" cy="96012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15967" y="4745736"/>
            <a:ext cx="3566160" cy="96012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968B"/>
                </a:solidFill>
                <a:latin typeface="Segoe UI"/>
              </a:rPr>
              <a:t>Audit log growth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41B2D"/>
                </a:solidFill>
                <a:latin typeface="Segoe UI"/>
              </a:rPr>
              <a:t>The item to watch. Auditing every column adds up; retention is set deliberately.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7" y="4745736"/>
            <a:ext cx="50292" cy="96012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65006" y="4745736"/>
            <a:ext cx="3566160" cy="96012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968B"/>
                </a:solidFill>
                <a:latin typeface="Segoe UI"/>
              </a:rPr>
              <a:t>No infrastructure cost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41B2D"/>
                </a:solidFill>
                <a:latin typeface="Segoe UI"/>
              </a:rPr>
              <a:t>No servers, no database licence, no patching, no hosting.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6" y="4745736"/>
            <a:ext cx="50292" cy="96012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37A"/>
                </a:solidFill>
                <a:latin typeface="Segoe UI"/>
              </a:rPr>
              <a:t>Employee Skills &amp; Competency Management Dashboard   ·   Power Platform Solution Overview   ·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68B"/>
                </a:solidFill>
                <a:latin typeface="Segoe UI"/>
              </a:rPr>
              <a:t>DELIVERY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335C"/>
                </a:solidFill>
                <a:latin typeface="Segoe UI"/>
              </a:rPr>
              <a:t>How we get there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43000" cy="4064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88" y="2002536"/>
            <a:ext cx="10326319" cy="31750"/>
          </a:xfrm>
          <a:prstGeom prst="rect">
            <a:avLst/>
          </a:prstGeom>
          <a:solidFill>
            <a:srgbClr val="C7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80160" y="1874520"/>
            <a:ext cx="292608" cy="292608"/>
          </a:xfrm>
          <a:prstGeom prst="ellipse">
            <a:avLst/>
          </a:prstGeom>
          <a:solidFill>
            <a:srgbClr val="55637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2350008"/>
            <a:ext cx="1737360" cy="224028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5637A"/>
                </a:solidFill>
                <a:latin typeface="Segoe UI"/>
              </a:rPr>
              <a:t>Phase 0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5335C"/>
                </a:solidFill>
                <a:latin typeface="Segoe UI"/>
              </a:rPr>
              <a:t>Foundation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Environments Dev/Test/Prod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Security groups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Auditing switched on</a:t>
            </a:r>
          </a:p>
        </p:txBody>
      </p:sp>
      <p:sp>
        <p:nvSpPr>
          <p:cNvPr id="8" name="Oval 7"/>
          <p:cNvSpPr/>
          <p:nvPr/>
        </p:nvSpPr>
        <p:spPr>
          <a:xfrm>
            <a:off x="3136391" y="1874520"/>
            <a:ext cx="292608" cy="292608"/>
          </a:xfrm>
          <a:prstGeom prst="ellipse">
            <a:avLst/>
          </a:prstGeom>
          <a:solidFill>
            <a:srgbClr val="1F4E8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423159" y="2350008"/>
            <a:ext cx="1737360" cy="224028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F4E8C"/>
                </a:solidFill>
                <a:latin typeface="Segoe UI"/>
              </a:rPr>
              <a:t>Phase 1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5335C"/>
                </a:solidFill>
                <a:latin typeface="Segoe UI"/>
              </a:rPr>
              <a:t>Model &amp; catalog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Dataverse tables and keys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0–5 scale as data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Seeded skills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Security roles</a:t>
            </a:r>
          </a:p>
        </p:txBody>
      </p:sp>
      <p:sp>
        <p:nvSpPr>
          <p:cNvPr id="10" name="Oval 9"/>
          <p:cNvSpPr/>
          <p:nvPr/>
        </p:nvSpPr>
        <p:spPr>
          <a:xfrm>
            <a:off x="4992622" y="1874520"/>
            <a:ext cx="292608" cy="292608"/>
          </a:xfrm>
          <a:prstGeom prst="ellipse">
            <a:avLst/>
          </a:prstGeom>
          <a:solidFill>
            <a:srgbClr val="00968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79390" y="2350008"/>
            <a:ext cx="1737360" cy="224028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00968B"/>
                </a:solidFill>
                <a:latin typeface="Segoe UI"/>
              </a:rPr>
              <a:t>Phase 2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5335C"/>
                </a:solidFill>
                <a:latin typeface="Segoe UI"/>
              </a:rPr>
              <a:t>Manager app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Directory and profile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Add skill, record rating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Corrections with reasons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Audit history</a:t>
            </a:r>
          </a:p>
        </p:txBody>
      </p:sp>
      <p:sp>
        <p:nvSpPr>
          <p:cNvPr id="12" name="Oval 11"/>
          <p:cNvSpPr/>
          <p:nvPr/>
        </p:nvSpPr>
        <p:spPr>
          <a:xfrm>
            <a:off x="6848853" y="1874520"/>
            <a:ext cx="292608" cy="292608"/>
          </a:xfrm>
          <a:prstGeom prst="ellipse">
            <a:avLst/>
          </a:prstGeom>
          <a:solidFill>
            <a:srgbClr val="D97A0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35621" y="2350008"/>
            <a:ext cx="1737360" cy="224028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D97A0B"/>
                </a:solidFill>
                <a:latin typeface="Segoe UI"/>
              </a:rPr>
              <a:t>Phase 3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5335C"/>
                </a:solidFill>
                <a:latin typeface="Segoe UI"/>
              </a:rPr>
              <a:t>Employee data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Import template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Staging and validation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Promote and report</a:t>
            </a:r>
          </a:p>
        </p:txBody>
      </p:sp>
      <p:sp>
        <p:nvSpPr>
          <p:cNvPr id="14" name="Oval 13"/>
          <p:cNvSpPr/>
          <p:nvPr/>
        </p:nvSpPr>
        <p:spPr>
          <a:xfrm>
            <a:off x="8705084" y="1874520"/>
            <a:ext cx="292608" cy="292608"/>
          </a:xfrm>
          <a:prstGeom prst="ellipse">
            <a:avLst/>
          </a:prstGeom>
          <a:solidFill>
            <a:srgbClr val="B32D3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91852" y="2350008"/>
            <a:ext cx="1737360" cy="224028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B32D3F"/>
                </a:solidFill>
                <a:latin typeface="Segoe UI"/>
              </a:rPr>
              <a:t>Phase 4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5335C"/>
                </a:solidFill>
                <a:latin typeface="Segoe UI"/>
              </a:rPr>
              <a:t>Power BI trends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Semantic model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Carry-forward measures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All four periods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Embedded in the app</a:t>
            </a:r>
          </a:p>
        </p:txBody>
      </p:sp>
      <p:sp>
        <p:nvSpPr>
          <p:cNvPr id="16" name="Oval 15"/>
          <p:cNvSpPr/>
          <p:nvPr/>
        </p:nvSpPr>
        <p:spPr>
          <a:xfrm>
            <a:off x="10561315" y="1874520"/>
            <a:ext cx="292608" cy="292608"/>
          </a:xfrm>
          <a:prstGeom prst="ellipse">
            <a:avLst/>
          </a:prstGeom>
          <a:solidFill>
            <a:srgbClr val="15335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848083" y="2350008"/>
            <a:ext cx="1737360" cy="224028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5335C"/>
                </a:solidFill>
                <a:latin typeface="Segoe UI"/>
              </a:rPr>
              <a:t>Phase 5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5335C"/>
                </a:solidFill>
                <a:latin typeface="Segoe UI"/>
              </a:rPr>
              <a:t>Insight &amp; polish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Gaps and staleness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Coverage matrix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Bulk entry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41B2D"/>
                </a:solidFill>
                <a:latin typeface="Segoe UI"/>
              </a:rPr>
              <a:t>•  Targets and exports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764024"/>
            <a:ext cx="11057839" cy="841248"/>
          </a:xfrm>
          <a:prstGeom prst="roundRect">
            <a:avLst/>
          </a:prstGeom>
          <a:solidFill>
            <a:srgbClr val="E4ECF6"/>
          </a:solidFill>
          <a:ln w="12700">
            <a:solidFill>
              <a:srgbClr val="E4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335C"/>
                </a:solidFill>
                <a:latin typeface="Segoe UI"/>
              </a:rPr>
              <a:t>Value arrives before the end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B2D"/>
                </a:solidFill>
                <a:latin typeface="Segoe UI"/>
              </a:rPr>
              <a:t>Managers can record and correct ratings from the end of Phase 2 — the record-keeping loop works before any reporting is built. Phase 4 is where the trends land, and Phase 5 turns record-keeping into proactive management.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637A"/>
                </a:solidFill>
                <a:latin typeface="Segoe UI"/>
              </a:rPr>
              <a:t>Employee Skills &amp; Competency Management Dashboard   ·   Power Platform Solution Overview   ·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968B"/>
                </a:solidFill>
                <a:latin typeface="Segoe U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What we need to start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2148840"/>
            <a:ext cx="457200" cy="457200"/>
          </a:xfrm>
          <a:prstGeom prst="ellipse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6712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Confirm the three decisions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8CBE2"/>
                </a:solidFill>
                <a:latin typeface="Segoe UI"/>
              </a:rPr>
              <a:t>Power Automate, refresh freshness, and note visibility — slide 12.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935224"/>
            <a:ext cx="457200" cy="457200"/>
          </a:xfrm>
          <a:prstGeom prst="ellipse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53512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Confirm licensing direction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8CBE2"/>
                </a:solidFill>
                <a:latin typeface="Segoe UI"/>
              </a:rPr>
              <a:t>Whether a Fabric capacity is available, which decides the employee experience.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721608"/>
            <a:ext cx="457200" cy="457200"/>
          </a:xfrm>
          <a:prstGeom prst="ellipse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39896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Provide the employee Excel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8CBE2"/>
                </a:solidFill>
                <a:latin typeface="Segoe UI"/>
              </a:rPr>
              <a:t>One export with code, name, email, department, designation and manager email.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507992"/>
            <a:ext cx="457200" cy="457200"/>
          </a:xfrm>
          <a:prstGeom prst="ellipse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52628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Nominate a pilot group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8CBE2"/>
                </a:solidFill>
                <a:latin typeface="Segoe UI"/>
              </a:rPr>
              <a:t>Two managers and one admin to shape Phase 2 before it is rolled out.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5294376"/>
            <a:ext cx="457200" cy="457200"/>
          </a:xfrm>
          <a:prstGeom prst="ellipse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312664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Approve the phase plan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8CBE2"/>
                </a:solidFill>
                <a:latin typeface="Segoe UI"/>
              </a:rPr>
              <a:t>Then Phase 0 and Phase 1 can begin immediately.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9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592531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6D2"/>
                </a:solidFill>
                <a:latin typeface="Segoe UI"/>
              </a:rPr>
              <a:t>Full detail in REQUIREMENTS.md and ARCHITECTURE.md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39aa4b3-b62d-42bf-8097-75e2c573ddfa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2515</Words>
  <Application>Microsoft Office PowerPoint</Application>
  <PresentationFormat>Widescreen</PresentationFormat>
  <Paragraphs>433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Santosh, Male</cp:lastModifiedBy>
  <cp:revision>2</cp:revision>
  <dcterms:created xsi:type="dcterms:W3CDTF">2013-01-27T09:14:16Z</dcterms:created>
  <dcterms:modified xsi:type="dcterms:W3CDTF">2026-09-22T18:41:10Z</dcterms:modified>
  <cp:category/>
</cp:coreProperties>
</file>