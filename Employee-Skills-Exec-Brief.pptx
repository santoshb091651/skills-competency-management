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Employee Skills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Competency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1012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7E2F0"/>
                </a:solidFill>
                <a:latin typeface="Segoe UI"/>
              </a:rPr>
              <a:t>A working proof of concept is running on Microsoft licences we already own. We are asking to take it 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2578608" cy="1024128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bIns="91440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Working today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2DE"/>
                </a:solidFill>
                <a:latin typeface="Segoe UI"/>
              </a:rPr>
              <a:t>Managers can record and
correct skill ratings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315968"/>
            <a:ext cx="2578608" cy="1024128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bIns="91440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Nothing to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2DE"/>
                </a:solidFill>
                <a:latin typeface="Segoe UI"/>
              </a:rPr>
              <a:t>No servers, no database,
no custom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4315968"/>
            <a:ext cx="2578608" cy="1024128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bIns="91440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Fully auditable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2DE"/>
                </a:solidFill>
                <a:latin typeface="Segoe UI"/>
              </a:rPr>
              <a:t>Every rating kept forever.
No one can delete a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78824" y="4315968"/>
            <a:ext cx="2578608" cy="1024128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bIns="91440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One cost lever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2DE"/>
                </a:solidFill>
                <a:latin typeface="Segoe UI"/>
              </a:rPr>
              <a:t>Serving employees via Power BI
removes the largest line item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What is already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499616"/>
            <a:ext cx="5806440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5637A"/>
                </a:solidFill>
                <a:latin typeface="Segoe UI"/>
              </a:rPr>
              <a:t>SKILLS MATRIX  —  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56816"/>
            <a:ext cx="1783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335C"/>
                </a:solidFill>
                <a:latin typeface="Segoe UI"/>
              </a:rPr>
              <a:t>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1956816"/>
            <a:ext cx="8686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335C"/>
                </a:solidFill>
                <a:latin typeface="Segoe UI"/>
              </a:rPr>
              <a:t>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956816"/>
            <a:ext cx="8686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335C"/>
                </a:solidFill>
                <a:latin typeface="Segoe UI"/>
              </a:rPr>
              <a:t>Playwright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956816"/>
            <a:ext cx="8686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335C"/>
                </a:solidFill>
                <a:latin typeface="Segoe U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956816"/>
            <a:ext cx="8686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335C"/>
                </a:solidFill>
                <a:latin typeface="Segoe UI"/>
              </a:rPr>
              <a:t>Azure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194560"/>
            <a:ext cx="5257800" cy="13970"/>
          </a:xfrm>
          <a:prstGeom prst="rect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340864"/>
            <a:ext cx="1783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A. Kulkarni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304288"/>
            <a:ext cx="338328" cy="237744"/>
          </a:xfrm>
          <a:prstGeom prst="roundRect">
            <a:avLst/>
          </a:prstGeom>
          <a:solidFill>
            <a:srgbClr val="1F7A46"/>
          </a:solidFill>
          <a:ln w="9525">
            <a:solidFill>
              <a:srgbClr val="1F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66744" y="2304288"/>
            <a:ext cx="338328" cy="237744"/>
          </a:xfrm>
          <a:prstGeom prst="roundRect">
            <a:avLst/>
          </a:prstGeom>
          <a:solidFill>
            <a:srgbClr val="82C79B"/>
          </a:solidFill>
          <a:ln w="9525">
            <a:solidFill>
              <a:srgbClr val="82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3C23"/>
                </a:solidFill>
                <a:latin typeface="Segoe U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2304288"/>
            <a:ext cx="338328" cy="237744"/>
          </a:xfrm>
          <a:prstGeom prst="roundRect">
            <a:avLst/>
          </a:prstGeom>
          <a:solidFill>
            <a:srgbClr val="B3DCC1"/>
          </a:solidFill>
          <a:ln w="9525">
            <a:solidFill>
              <a:srgbClr val="B3DC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422A"/>
                </a:solidFill>
                <a:latin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4104" y="2304288"/>
            <a:ext cx="338328" cy="237744"/>
          </a:xfrm>
          <a:prstGeom prst="roundRect">
            <a:avLst/>
          </a:prstGeom>
          <a:solidFill>
            <a:srgbClr val="0F5C33"/>
          </a:solidFill>
          <a:ln w="9525">
            <a:solidFill>
              <a:srgbClr val="0F5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642616"/>
            <a:ext cx="1783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R. Menon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8064" y="2606040"/>
            <a:ext cx="338328" cy="237744"/>
          </a:xfrm>
          <a:prstGeom prst="roundRect">
            <a:avLst/>
          </a:prstGeom>
          <a:solidFill>
            <a:srgbClr val="82C79B"/>
          </a:solidFill>
          <a:ln w="9525">
            <a:solidFill>
              <a:srgbClr val="82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3C23"/>
                </a:solidFill>
                <a:latin typeface="Segoe U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6744" y="2606040"/>
            <a:ext cx="338328" cy="237744"/>
          </a:xfrm>
          <a:prstGeom prst="roundRect">
            <a:avLst/>
          </a:prstGeom>
          <a:solidFill>
            <a:srgbClr val="0F5C33"/>
          </a:solidFill>
          <a:ln w="9525">
            <a:solidFill>
              <a:srgbClr val="0F5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2606040"/>
            <a:ext cx="338328" cy="237744"/>
          </a:xfrm>
          <a:prstGeom prst="roundRect">
            <a:avLst/>
          </a:prstGeom>
          <a:solidFill>
            <a:srgbClr val="D9ECDF"/>
          </a:solidFill>
          <a:ln w="9525">
            <a:solidFill>
              <a:srgbClr val="82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492F"/>
                </a:solidFill>
                <a:latin typeface="Segoe UI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4104" y="2606040"/>
            <a:ext cx="338328" cy="237744"/>
          </a:xfrm>
          <a:prstGeom prst="roundRect">
            <a:avLst/>
          </a:prstGeom>
          <a:solidFill>
            <a:srgbClr val="82C79B"/>
          </a:solidFill>
          <a:ln w="9525">
            <a:solidFill>
              <a:srgbClr val="82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3C23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944368"/>
            <a:ext cx="1783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S. Iyer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98064" y="2907792"/>
            <a:ext cx="338328" cy="237744"/>
          </a:xfrm>
          <a:prstGeom prst="roundRect">
            <a:avLst/>
          </a:prstGeom>
          <a:solidFill>
            <a:srgbClr val="B3DCC1"/>
          </a:solidFill>
          <a:ln w="9525">
            <a:solidFill>
              <a:srgbClr val="B3DC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422A"/>
                </a:solidFill>
                <a:latin typeface="Segoe UI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66744" y="2907792"/>
            <a:ext cx="338328" cy="237744"/>
          </a:xfrm>
          <a:prstGeom prst="roundRect">
            <a:avLst/>
          </a:prstGeom>
          <a:solidFill>
            <a:srgbClr val="B3DCC1"/>
          </a:solidFill>
          <a:ln w="9525">
            <a:solidFill>
              <a:srgbClr val="B3DC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422A"/>
                </a:solidFill>
                <a:latin typeface="Segoe U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5424" y="2907792"/>
            <a:ext cx="338328" cy="237744"/>
          </a:xfrm>
          <a:prstGeom prst="roundRect">
            <a:avLst/>
          </a:prstGeom>
          <a:solidFill>
            <a:srgbClr val="1F7A46"/>
          </a:solidFill>
          <a:ln w="9525">
            <a:solidFill>
              <a:srgbClr val="1F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04104" y="2907792"/>
            <a:ext cx="338328" cy="237744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82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B5A46"/>
                </a:solidFill>
                <a:latin typeface="Segoe U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246120"/>
            <a:ext cx="1783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D. Sharma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98064" y="3209544"/>
            <a:ext cx="338328" cy="237744"/>
          </a:xfrm>
          <a:prstGeom prst="roundRect">
            <a:avLst/>
          </a:prstGeom>
          <a:solidFill>
            <a:srgbClr val="0F5C33"/>
          </a:solidFill>
          <a:ln w="9525">
            <a:solidFill>
              <a:srgbClr val="0F5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66744" y="3209544"/>
            <a:ext cx="338328" cy="237744"/>
          </a:xfrm>
          <a:prstGeom prst="roundRect">
            <a:avLst/>
          </a:prstGeom>
          <a:solidFill>
            <a:srgbClr val="1F7A46"/>
          </a:solidFill>
          <a:ln w="9525">
            <a:solidFill>
              <a:srgbClr val="1F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5424" y="3209544"/>
            <a:ext cx="338328" cy="237744"/>
          </a:xfrm>
          <a:prstGeom prst="roundRect">
            <a:avLst/>
          </a:prstGeom>
          <a:solidFill>
            <a:srgbClr val="82C79B"/>
          </a:solidFill>
          <a:ln w="9525">
            <a:solidFill>
              <a:srgbClr val="82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3C23"/>
                </a:solidFill>
                <a:latin typeface="Segoe UI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4104" y="3209544"/>
            <a:ext cx="338328" cy="237744"/>
          </a:xfrm>
          <a:prstGeom prst="roundRect">
            <a:avLst/>
          </a:prstGeom>
          <a:solidFill>
            <a:srgbClr val="1F7A46"/>
          </a:solidFill>
          <a:ln w="9525">
            <a:solidFill>
              <a:srgbClr val="1F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49300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5637A"/>
                </a:solidFill>
                <a:latin typeface="Segoe UI"/>
              </a:rPr>
              <a:t>Every person against every skill, 0 to 5. Filter, search, page and hide columns.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6248" y="1499616"/>
            <a:ext cx="5068519" cy="239572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28016" bIns="9144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4E8C"/>
                </a:solidFill>
                <a:latin typeface="Segoe UI"/>
              </a:rPr>
              <a:t>What a manager does today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Sees the whole team against every skill on one screen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Changes a rating — the history row is written and the current rating updates in the same save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Adds a new skill, which becomes a column for everyone immediately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Corrects an earlier assessment without overwriting the original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078224"/>
            <a:ext cx="2697480" cy="11887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2D3F"/>
                </a:solidFill>
                <a:latin typeface="Segoe UI"/>
              </a:rPr>
              <a:t>One row per rating, forever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Corrections add a row.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Nothing is ever overwritten or deleted.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78224"/>
            <a:ext cx="50292" cy="1188720"/>
          </a:xfrm>
          <a:prstGeom prst="rect">
            <a:avLst/>
          </a:prstGeom>
          <a:solidFill>
            <a:srgbClr val="B3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383280" y="4078224"/>
            <a:ext cx="2697480" cy="11887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7A0B"/>
                </a:solidFill>
                <a:latin typeface="Segoe UI"/>
              </a:rPr>
              <a:t>Backdating works correctly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A correction for March, entered today,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lands in March — not today.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078224"/>
            <a:ext cx="50292" cy="118872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99632" y="4078224"/>
            <a:ext cx="2697480" cy="11887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968B"/>
                </a:solidFill>
                <a:latin typeface="Segoe UI"/>
              </a:rPr>
              <a:t>No custom software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Platform configuration only.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Nothing for us to host or patch.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4078224"/>
            <a:ext cx="50292" cy="11887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15984" y="4078224"/>
            <a:ext cx="2697480" cy="11887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4E8C"/>
                </a:solidFill>
                <a:latin typeface="Segoe UI"/>
              </a:rPr>
              <a:t>Security from the platform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Existing company sign-in.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Managers see their own reporting line.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4078224"/>
            <a:ext cx="50292" cy="118872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66928" y="5449824"/>
            <a:ext cx="11057839" cy="640080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335C"/>
                </a:solidFill>
                <a:latin typeface="Segoe UI"/>
              </a:rPr>
              <a:t>The proof of concept settles the question that matters: a complete, tamper-proof skills history can be kept without building or running any software of our own.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  ·   Executive Brief   ·  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What it costs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99616"/>
          <a:ext cx="11057837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2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1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Audience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Roughly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they need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Licence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Administrator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Full app, data imports, all reports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Power Apps Premium + Power BI Pro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~50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Record and correct ratings, team reports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Power Apps Premium + Power BI Pro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Employee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~2,000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View their own profile and the directory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Power BI only — see below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419856"/>
            <a:ext cx="11057839" cy="1280160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28016" bIns="9144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335C"/>
                </a:solidFill>
                <a:latin typeface="Segoe UI"/>
              </a:rPr>
              <a:t>The one decision that moves the number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Licensing roughly 2,000 people for Power Apps so they can read their own profile is the largest single cost in the solution, and it is out of proportion to read-only use.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335C"/>
                </a:solidFill>
                <a:latin typeface="Segoe UI"/>
              </a:rPr>
              <a:t>Serving employees through Power BI instead removes that line item: on a Fabric F64 capacity, report viewers are free. Only managers and administrators then need Power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82896"/>
            <a:ext cx="3566160" cy="106070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No infrastructure cost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No servers, no database licence,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no patching, no hosting.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82896"/>
            <a:ext cx="50292" cy="1060704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15967" y="4882896"/>
            <a:ext cx="3566160" cy="106070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8C"/>
                </a:solidFill>
                <a:latin typeface="Segoe UI"/>
              </a:rPr>
              <a:t>Storage is modest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Roughly half a million rating rows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at our volumes.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7" y="4882896"/>
            <a:ext cx="50292" cy="1060704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65006" y="4882896"/>
            <a:ext cx="3566160" cy="106070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7A0B"/>
                </a:solidFill>
                <a:latin typeface="Segoe UI"/>
              </a:rPr>
              <a:t>Audit growth to watch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Auditing every column adds up.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Retention is set deliberately.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6" y="4882896"/>
            <a:ext cx="50292" cy="106070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5637A"/>
                </a:solidFill>
                <a:latin typeface="Segoe UI"/>
              </a:rPr>
              <a:t>Headcounts are the current working assumption and should be confirmed before a licence order is placed.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  ·   Executive Brief   ·  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968B"/>
                </a:solidFill>
                <a:latin typeface="Segoe U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Segoe UI"/>
              </a:rPr>
              <a:t>Three things we need to proceed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828800"/>
            <a:ext cx="475488" cy="475488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837944"/>
            <a:ext cx="1024128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Approve the move to production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C2DE"/>
                </a:solidFill>
                <a:latin typeface="Segoe UI"/>
              </a:rPr>
              <a:t>The proof of concept has answered the design questions. Phases 0 and 1 can begin immediately on approval.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724912"/>
            <a:ext cx="475488" cy="475488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734056"/>
            <a:ext cx="1024128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Confirm the licensing route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C2DE"/>
                </a:solidFill>
                <a:latin typeface="Segoe UI"/>
              </a:rPr>
              <a:t>Specifically whether a Fabric capacity is available to us. This is the decision that determines the per-head cost.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21024"/>
            <a:ext cx="475488" cy="475488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3630168"/>
            <a:ext cx="1024128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Release the data and a pilot group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C2DE"/>
                </a:solidFill>
                <a:latin typeface="Segoe UI"/>
              </a:rPr>
              <a:t>One employee export, plus two managers and one administrator to shape the manager app before wider rollout.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074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8B"/>
                </a:solidFill>
                <a:latin typeface="Segoe UI"/>
              </a:rPr>
              <a:t>DELIVERY 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54880"/>
            <a:ext cx="1755648" cy="676656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C2DE"/>
                </a:solidFill>
                <a:latin typeface="Segoe UI"/>
              </a:rPr>
              <a:t>Phase 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Foundation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2304" y="4754880"/>
            <a:ext cx="1755648" cy="676656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C2DE"/>
                </a:solidFill>
                <a:latin typeface="Segoe UI"/>
              </a:rPr>
              <a:t>Phase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Model &amp; catalogue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754880"/>
            <a:ext cx="1755648" cy="676656"/>
          </a:xfrm>
          <a:prstGeom prst="roundRect">
            <a:avLst/>
          </a:prstGeom>
          <a:solidFill>
            <a:srgbClr val="00968B"/>
          </a:solidFill>
          <a:ln w="12700">
            <a:solidFill>
              <a:srgbClr val="009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Phase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Manager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4754880"/>
            <a:ext cx="1755648" cy="676656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C2DE"/>
                </a:solidFill>
                <a:latin typeface="Segoe UI"/>
              </a:rPr>
              <a:t>Phase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Employee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4754880"/>
            <a:ext cx="1755648" cy="676656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C2DE"/>
                </a:solidFill>
                <a:latin typeface="Segoe UI"/>
              </a:rPr>
              <a:t>Phase 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Power BI trends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93808" y="4754880"/>
            <a:ext cx="1755648" cy="676656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C2DE"/>
                </a:solidFill>
                <a:latin typeface="Segoe UI"/>
              </a:rPr>
              <a:t>Phase 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Insight &amp; polish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5955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7E2F0"/>
                </a:solidFill>
                <a:latin typeface="Segoe UI"/>
              </a:rPr>
              <a:t>Managers can start recording and correcting ratings from the end of Phase 2 — value arrives well before the reporting is finished. Durations to be confirmed with the delivery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659</Words>
  <Application>Microsoft Office PowerPoint</Application>
  <PresentationFormat>Widescreen</PresentationFormat>
  <Paragraphs>116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Santosh, Male</cp:lastModifiedBy>
  <cp:revision>3</cp:revision>
  <dcterms:created xsi:type="dcterms:W3CDTF">2013-01-27T09:14:16Z</dcterms:created>
  <dcterms:modified xsi:type="dcterms:W3CDTF">2026-10-27T06:32:55Z</dcterms:modified>
  <cp:category/>
</cp:coreProperties>
</file>